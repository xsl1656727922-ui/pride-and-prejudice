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8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A2E"/>
            </a:gs>
            <a:gs pos="100000">
              <a:srgbClr val="0F346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 i="1">
                <a:solidFill>
                  <a:srgbClr val="666666"/>
                </a:solidFill>
                <a:latin typeface="Cormorant Garamond"/>
              </a:defRPr>
            </a:pPr>
            <a:r>
              <a:t>Pride &amp; Prejudice · Jane Austen · 1813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04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00"/>
              </a:lnSpc>
              <a:defRPr sz="5400" b="1" i="0">
                <a:solidFill>
                  <a:srgbClr val="FFFFFF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傲慢与偏见</a:t>
            </a:r>
            <a:endParaRPr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705295" cy="93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1800" b="0" i="0">
                <a:solidFill>
                  <a:srgbClr val="808080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一本关于误会的书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b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</a:b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也是一个关于「看人」的故事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303520"/>
            <a:ext cx="21332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5486400"/>
            <a:ext cx="5790895" cy="64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300" b="0" i="0">
                <a:solidFill>
                  <a:srgbClr val="666666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人人都说这是一部爱情经典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  <a:b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</a:b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但我们这次，想从爱情以外的角度打开它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30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300" b="0" i="0">
                <a:solidFill>
                  <a:srgbClr val="C9A96E"/>
                </a:solidFill>
                <a:latin typeface="Noto Serif SC"/>
              </a:defRPr>
            </a:pPr>
            <a:r>
              <a:rPr lang="zh-CN" altLang="en-US" b="1" dirty="0">
                <a:latin typeface="SimSong" panose="02020300000000000000" pitchFamily="18" charset="-122"/>
                <a:ea typeface="SimSong" panose="02020300000000000000" pitchFamily="18" charset="-122"/>
              </a:rPr>
              <a:t>五句金句</a:t>
            </a:r>
            <a:endParaRPr b="1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3" name="Oval 2"/>
          <p:cNvSpPr/>
          <p:nvPr/>
        </p:nvSpPr>
        <p:spPr>
          <a:xfrm>
            <a:off x="1371600" y="172212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362143"/>
            <a:ext cx="86868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我们总以为自己能看准人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172790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1">
                <a:solidFill>
                  <a:srgbClr val="6B7B8D"/>
                </a:solidFill>
                <a:latin typeface="Cormorant Garamond"/>
              </a:defRPr>
            </a:pPr>
            <a:r>
              <a:t>We always think we can read people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68224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322263"/>
            <a:ext cx="86868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被所有人误解的人，其实比谁都渴望被看见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268802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1">
                <a:solidFill>
                  <a:srgbClr val="6B7B8D"/>
                </a:solidFill>
                <a:latin typeface="Cormorant Garamond"/>
              </a:defRPr>
            </a:pPr>
            <a:r>
              <a:t>The one everyone misunderstood most wanted to be seen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64236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282383"/>
            <a:ext cx="86868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0" i="0">
                <a:solidFill>
                  <a:srgbClr val="2D2D44"/>
                </a:solidFill>
                <a:latin typeface="Noto Serif SC"/>
              </a:defRPr>
            </a:pPr>
            <a:r>
              <a:rPr>
                <a:latin typeface="FangSong" panose="02010609060101010101" pitchFamily="49" charset="-122"/>
                <a:ea typeface="FangSong" panose="02010609060101010101" pitchFamily="49" charset="-122"/>
              </a:rPr>
              <a:t>有些真相，需要一封信才能说清楚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4814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1">
                <a:solidFill>
                  <a:srgbClr val="6B7B8D"/>
                </a:solidFill>
                <a:latin typeface="Cormorant Garamond"/>
              </a:defRPr>
            </a:pPr>
            <a:r>
              <a:t>Some truths need a letter to be told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60248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242503"/>
            <a:ext cx="86868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真正的善意，常常是无声的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5920" y="460826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1">
                <a:solidFill>
                  <a:srgbClr val="6B7B8D"/>
                </a:solidFill>
                <a:latin typeface="Cormorant Garamond"/>
              </a:defRPr>
            </a:pPr>
            <a:r>
              <a:t>True kindness is often silent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556260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5202623"/>
            <a:ext cx="8686800" cy="369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两个看错彼此的人，学会了诚实地看人、也谦卑地看己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5568383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1">
                <a:solidFill>
                  <a:srgbClr val="6B7B8D"/>
                </a:solidFill>
                <a:latin typeface="Cormorant Garamond"/>
              </a:defRPr>
            </a:pPr>
            <a:r>
              <a:t>Two who misread each other learned to see honestly and look humbly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57939BA-729B-1AAB-DD68-62F86828171C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1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26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1" i="0">
                <a:solidFill>
                  <a:srgbClr val="1A1A2E"/>
                </a:solidFill>
                <a:latin typeface="Noto Serif SC"/>
              </a:defRPr>
            </a:pPr>
            <a:r>
              <a:rPr b="1"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初见一本书</a:t>
            </a:r>
            <a:endParaRPr b="1"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lnSpc>
                <a:spcPts val="3600"/>
              </a:lnSpc>
              <a:spcAft>
                <a:spcPts val="1200"/>
              </a:spcAft>
              <a:defRPr sz="18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读《傲慢与偏见》的时候，读到某个时刻我突然意识到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这些人，我认识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那个嘴上不饶人但其实心里很在乎的姑娘，我认识。那个明明很善良却不知道怎么表达的男生，我也认识。甚至那个一开口就让人尴尬、自以为是的牧师，我也在某次聚餐里遇到过。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故事从一句话开始。达西先生在舞会上说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："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她还没有漂亮到能打动我的程度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而那个姑娘，偏偏把这句话记得清清楚楚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故事从这里就开始了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不是从爱情开始，而是从伤害开始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  <p:pic>
        <p:nvPicPr>
          <p:cNvPr id="6" name="Picture 5" descr="regency-ballroom_1788256745.png"/>
          <p:cNvPicPr>
            <a:picLocks noChangeAspect="1"/>
          </p:cNvPicPr>
          <p:nvPr/>
        </p:nvPicPr>
        <p:blipFill>
          <a:blip r:embed="rId2"/>
          <a:srcRect l="54852"/>
          <a:stretch>
            <a:fillRect/>
          </a:stretch>
        </p:blipFill>
        <p:spPr>
          <a:xfrm>
            <a:off x="8408276" y="1828800"/>
            <a:ext cx="329604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B7C8CDE-765B-EB05-AF24-FC426BD9AB72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2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E4A88A2-B22A-4C98-07AE-61134683246F}"/>
              </a:ext>
            </a:extLst>
          </p:cNvPr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r>
              <a:rPr dirty="0" err="1"/>
              <a:t>我们都以为自己能看准人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4045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伊丽莎白是那种让人喜欢的姑娘。聪明、机灵、嘴巴厉害，最难得的是她有主见。在那个女人只需要嫁个好人家的年代，她偏偏要说：如果遇不到让我尊重的人，我宁可一个人待着。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我读到这里的时候特别佩服她。觉得她活得太清醒了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然后奥斯汀笔锋一转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让这个最清醒的人，犯了最糊涂的错误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后来我才知道，心理学上有个词叫"确认偏误"。就是说，一旦我们心里有了一个结论，就会不自觉地去找证据来支持它，而自动忽略那些不支持它的信息。</a:t>
            </a:r>
          </a:p>
        </p:txBody>
      </p:sp>
      <p:pic>
        <p:nvPicPr>
          <p:cNvPr id="6" name="Picture 5" descr="regency-woman-portrait_1788257655.png"/>
          <p:cNvPicPr>
            <a:picLocks noChangeAspect="1"/>
          </p:cNvPicPr>
          <p:nvPr/>
        </p:nvPicPr>
        <p:blipFill>
          <a:blip r:embed="rId2"/>
          <a:srcRect l="20506" r="12027"/>
          <a:stretch>
            <a:fillRect/>
          </a:stretch>
        </p:blipFill>
        <p:spPr>
          <a:xfrm>
            <a:off x="8350461" y="1828800"/>
            <a:ext cx="333703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10362895" cy="5029200"/>
          </a:xfrm>
          <a:prstGeom prst="roundRect">
            <a:avLst/>
          </a:prstGeom>
          <a:solidFill>
            <a:srgbClr val="1E2848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35100" y="977900"/>
            <a:ext cx="3657600" cy="258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E8D5A8"/>
                </a:solidFill>
                <a:latin typeface="Noto Serif SC"/>
              </a:defRPr>
            </a:pPr>
            <a:r>
              <a:rPr b="1" dirty="0" err="1">
                <a:latin typeface="SimSong" panose="02020300000000000000" pitchFamily="18" charset="-122"/>
                <a:ea typeface="SimSong" panose="02020300000000000000" pitchFamily="18" charset="-122"/>
              </a:rPr>
              <a:t>一个场景</a:t>
            </a:r>
            <a:endParaRPr b="1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1371600" y="1097280"/>
            <a:ext cx="63500" cy="635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lnSpc>
                <a:spcPts val="3900"/>
              </a:lnSpc>
              <a:spcAft>
                <a:spcPts val="1600"/>
              </a:spcAft>
              <a:defRPr sz="18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军官韦翰出现了。英俊、健谈、身世可怜。他说达西抢走了本该属于他的牧师职位，说他被亏待了。伊丽莎白几乎没犹豫就相信了他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900"/>
              </a:lnSpc>
              <a:spcAft>
                <a:spcPts val="1600"/>
              </a:spcAft>
              <a:defRPr sz="1800" b="0" i="0">
                <a:solidFill>
                  <a:srgbClr val="FFFFFF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为什么？因为韦翰说的话，跟她已经形成的判断完全吻合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达西嘛，本来就是那种傲慢的人，做出这种事不奇怪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4000"/>
              </a:lnSpc>
              <a:defRPr sz="2000" b="1" i="0">
                <a:solidFill>
                  <a:srgbClr val="E8D5A8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有多少次，我以为自己在"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理性判断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"，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其实只是在"找证据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C9A96E"/>
                </a:solidFill>
                <a:latin typeface="Noto Serif SC"/>
              </a:defRPr>
            </a:pPr>
            <a:r>
              <a:t>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28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38100" cy="2286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144000" cy="205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000" b="0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伊丽莎白让我害怕的地方不是她犯了错，而是她犯错时的那种笃定。那种"我一看就知道"的自信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恰恰是偏见最危险的伪装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有多少次，我以为自己在"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理性判断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"，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其实只是在"找证据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C8D4285-0752-A4C7-4D0D-333EE625D60F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3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942AAA-2465-1E28-7664-54D71C6DC223}"/>
              </a:ext>
            </a:extLst>
          </p:cNvPr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冷漠的人，未必不在乎</a:t>
            </a:r>
            <a:endParaRPr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337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600"/>
              </a:lnSpc>
              <a:spcAft>
                <a:spcPts val="1200"/>
              </a:spcAft>
              <a:defRPr sz="1800" b="0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说说达西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如果只看前半本书，达西简直是个反派。有钱有地位，但目中无人。在舞会上挑三拣四，对不认识的人爱答不理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400"/>
              </a:lnSpc>
              <a:spcAft>
                <a:spcPts val="1800"/>
              </a:spcAft>
              <a:defRPr sz="17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但后来我慢慢发现一件事：达西不是不在乎，他是不知道怎么在乎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我们太习惯用"会不会说话"来判断一个人了。一个不善表达的人，很容易被贴上"冷漠"的标签。但冷漠和笨拙，是两回事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  <p:pic>
        <p:nvPicPr>
          <p:cNvPr id="6" name="Picture 5" descr="regency-gentleman_1788257670.png"/>
          <p:cNvPicPr>
            <a:picLocks noChangeAspect="1"/>
          </p:cNvPicPr>
          <p:nvPr/>
        </p:nvPicPr>
        <p:blipFill>
          <a:blip r:embed="rId2"/>
          <a:srcRect l="20527"/>
          <a:stretch>
            <a:fillRect/>
          </a:stretch>
        </p:blipFill>
        <p:spPr>
          <a:xfrm>
            <a:off x="8408276" y="1828800"/>
            <a:ext cx="329604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475488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3840480" cy="515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b="1" i="0">
                <a:solidFill>
                  <a:srgbClr val="FFFFFF"/>
                </a:solidFill>
                <a:latin typeface="Noto Serif SC"/>
              </a:defRPr>
            </a:pPr>
            <a:r>
              <a:rPr b="1"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你以为的达西</a:t>
            </a:r>
            <a:endParaRPr b="1"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 i="1">
                <a:solidFill>
                  <a:srgbClr val="E8D5A8"/>
                </a:solidFill>
                <a:latin typeface="Cormorant Garamond"/>
              </a:defRPr>
            </a:pPr>
            <a:r>
              <a:t>The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3840480" cy="1584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15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冷漠、傲慢、看不起所有人。在舞会上拒绝跳舞，对班纳特一家嗤之以鼻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他看起来像是一个不需要任何人的人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914400"/>
            <a:ext cx="4754880" cy="50292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2A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3840480" cy="515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400" b="1" i="0">
                <a:solidFill>
                  <a:srgbClr val="FFFFFF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真实的达西</a:t>
            </a:r>
            <a:endParaRPr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 i="1">
                <a:solidFill>
                  <a:srgbClr val="E8D5A8"/>
                </a:solidFill>
                <a:latin typeface="Cormorant Garamond"/>
              </a:defRPr>
            </a:pPr>
            <a:r>
              <a:t>The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926080"/>
            <a:ext cx="3840480" cy="2336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15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暗中替莉迪亚还债，保全了班纳特家的名声。默默帮助宾利认清自己的感情。为伊丽莎白做了一切，却不让她知道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他其实是一个做了很多好事、却从不开口的人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C9A96E"/>
                </a:solidFill>
                <a:latin typeface="Noto Serif SC"/>
              </a:defRPr>
            </a:pPr>
            <a:r>
              <a:t>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28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38100" cy="2286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144000" cy="205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  <a:defRPr sz="2000" b="0" i="0">
                <a:solidFill>
                  <a:srgbClr val="1A1A2E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达西的"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傲慢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"，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其实是一种保护色。他从小被教导要与人保持距离，久而久之，距离就变成了别人眼中的傲慢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b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我们生活中有多少"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达西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"，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不是看不起你，而是不知道怎么走向你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9A8E2A5-8A44-7830-5FB5-902866D04AA9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4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64FD1FB-69E9-61FC-4A9D-91834C6CC257}"/>
              </a:ext>
            </a:extLst>
          </p:cNvPr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r>
              <a:rPr dirty="0" err="1"/>
              <a:t>那封信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328899"/>
            <a:ext cx="6858000" cy="5071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400"/>
              </a:lnSpc>
              <a:spcAft>
                <a:spcPts val="1200"/>
              </a:spcAft>
              <a:defRPr sz="1700" b="0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全书最打动我的，不是达西的求婚。是伊丽莎白读完达西那封信之后的那段独白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达西早就爱上伊丽莎白了。可他第一次求婚说的是："我已经忍得够久了。"又说："我明知道你的家世配不上我。"他说的全是真心话，可他用的是"我在向下兼容你"的语气——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把爱说成了施舍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伊丽莎白一句话就把他堵了回去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："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你是这世上我最后一个愿意嫁的人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。"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但真正改变一切的，是后来那封信。信里，他一条一条地解释了真相。这封信没有姿态，只有证据和认错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伊丽莎白读了两遍，哭了。她第一次开始怀疑自己：也许，我一直都在误会他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</a:p>
        </p:txBody>
      </p:sp>
      <p:pic>
        <p:nvPicPr>
          <p:cNvPr id="6" name="Picture 5" descr="letter-quill_1788256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0" y="1371600"/>
            <a:ext cx="30476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2000" b="0" i="1">
                <a:solidFill>
                  <a:srgbClr val="808080"/>
                </a:solidFill>
                <a:latin typeface="Cormorant Garamond"/>
              </a:defRPr>
            </a:pPr>
            <a:r>
              <a:t>"I have been a selfish being all my life, in practice, though not in principle."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58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2400" b="0" i="0">
                <a:solidFill>
                  <a:srgbClr val="FFFFFF"/>
                </a:solidFill>
                <a:latin typeface="Noto Serif SC"/>
              </a:defRPr>
            </a:pPr>
            <a:r>
              <a:rPr dirty="0"/>
              <a:t>「</a:t>
            </a:r>
            <a:r>
              <a:rPr b="1" dirty="0" err="1">
                <a:latin typeface="SimSong" panose="02020300000000000000" pitchFamily="18" charset="-122"/>
                <a:ea typeface="SimSong" panose="02020300000000000000" pitchFamily="18" charset="-122"/>
              </a:rPr>
              <a:t>我这一生都是个自私的人</a:t>
            </a:r>
            <a:r>
              <a:rPr dirty="0"/>
              <a:t>——</a:t>
            </a:r>
            <a:r>
              <a:rPr dirty="0" err="1"/>
              <a:t>实践上是，原则上却不是</a:t>
            </a:r>
            <a:r>
              <a:rPr dirty="0"/>
              <a:t>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72961"/>
            <a:ext cx="9448495" cy="338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 i="0">
                <a:solidFill>
                  <a:srgbClr val="666666"/>
                </a:solidFill>
                <a:latin typeface="Noto Serif SC"/>
              </a:defRPr>
            </a:pPr>
            <a:r>
              <a:rPr dirty="0"/>
              <a:t>— </a:t>
            </a:r>
            <a:r>
              <a:rPr b="1" dirty="0" err="1">
                <a:latin typeface="SimSong" panose="02020300000000000000" pitchFamily="18" charset="-122"/>
                <a:ea typeface="SimSong" panose="02020300000000000000" pitchFamily="18" charset="-122"/>
              </a:rPr>
              <a:t>达西致伊丽莎白</a:t>
            </a:r>
            <a:endParaRPr b="1"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5029200"/>
            <a:ext cx="30476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38190" y="914400"/>
            <a:ext cx="254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153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sz="2800" dirty="0" err="1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一个人能说出</a:t>
            </a:r>
            <a:r>
              <a:rPr sz="2800" b="1" dirty="0" err="1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"我可能错了</a:t>
            </a:r>
            <a:r>
              <a:rPr sz="2800" b="1" dirty="0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</a:t>
            </a:r>
            <a:r>
              <a:rPr lang="zh-CN" altLang="en-US" sz="2800" b="1" dirty="0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，</a:t>
            </a:r>
            <a:endParaRPr sz="2800" b="1" dirty="0">
              <a:solidFill>
                <a:srgbClr val="C9A96E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  <a:p>
            <a:pPr algn="ctr">
              <a:lnSpc>
                <a:spcPts val="6000"/>
              </a:lnSpc>
            </a:pPr>
            <a:r>
              <a:rPr sz="2800" dirty="0" err="1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需要的不是软弱，而是巨大的勇气</a:t>
            </a:r>
            <a:r>
              <a:rPr sz="2800" dirty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99" y="3680443"/>
            <a:ext cx="8534095" cy="163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algn="ctr">
              <a:lnSpc>
                <a:spcPts val="3200"/>
              </a:lnSpc>
              <a:spcAft>
                <a:spcPts val="800"/>
              </a:spcAft>
              <a:defRPr sz="1600" b="0" i="0">
                <a:solidFill>
                  <a:srgbClr val="6B7B8D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注意，她是先怀疑自己，才看见真相的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——</a:t>
            </a: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顺序很重要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  <a:p>
            <a:pPr algn="ctr">
              <a:lnSpc>
                <a:spcPts val="3200"/>
              </a:lnSpc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伊丽莎白最了不起的地方，不是她聪明，不是她有主见。而是她在发现自己错了之后，没有找借口，没有转移话题，而是直面了它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4363EF3-0E41-30F8-4F90-55B868E565F6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5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EC5076A-AEFA-8494-A61D-F7B2AF93D8C3}"/>
              </a:ext>
            </a:extLst>
          </p:cNvPr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r>
              <a:rPr dirty="0" err="1"/>
              <a:t>在她最狼狈的时候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6858000" cy="3071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那封信之后，故事急转直下。伊丽莎白最冲动的妹妹莉迪亚，被韦翰骗得私奔了。在那个名声就是一切的年代，这等于把全家推到悬崖边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可就在这时候，出手的人是达西。他找遍伦敦，替韦翰还清债务，逼他娶了莉迪亚，甚至亲自出席了那场难堪的婚礼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然后，他不许任何人说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1" i="0">
                <a:solidFill>
                  <a:srgbClr val="1A1A2E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伊丽莎白辗转知道真相的那一刻，彻底震惊了：那个她骂了半本书的"傲慢的人"，在她全家最不堪的时候，做了最善良、最体面、也最不邀功的事。</a:t>
            </a:r>
          </a:p>
        </p:txBody>
      </p:sp>
      <p:pic>
        <p:nvPicPr>
          <p:cNvPr id="6" name="Picture 5" descr="english-estate_17882567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731520"/>
            <a:ext cx="10362895" cy="5029200"/>
          </a:xfrm>
          <a:prstGeom prst="roundRect">
            <a:avLst/>
          </a:prstGeom>
          <a:solidFill>
            <a:srgbClr val="1E2848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E8D5A8"/>
                </a:solidFill>
                <a:latin typeface="Noto Serif SC"/>
              </a:defRPr>
            </a:pPr>
            <a:r>
              <a:t>彭伯里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097280"/>
            <a:ext cx="63500" cy="635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900"/>
              </a:lnSpc>
              <a:spcAft>
                <a:spcPts val="1600"/>
              </a:spcAft>
              <a:defRPr sz="18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后来她来到达西的庄园。她以为会看到浮华，可她听见的是管家如何由衷敬重他、佃户如何真心信任他、他对自己的妹妹有多疼爱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900"/>
              </a:lnSpc>
              <a:spcAft>
                <a:spcPts val="1600"/>
              </a:spcAft>
              <a:defRPr sz="1800" b="0" i="0">
                <a:solidFill>
                  <a:srgbClr val="FFFFFF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在那个讲究出身的年代，达西对她那位出身不算体面的舅舅礼貌而得体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那不是礼貌，是人品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4000"/>
              </a:lnSpc>
              <a:defRPr sz="2000" b="1" i="0">
                <a:solidFill>
                  <a:srgbClr val="E8D5A8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一个人的品格，藏在他怎么对待那些与他无关的人身上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C9A96E"/>
                </a:solidFill>
                <a:latin typeface="Noto Serif SC"/>
              </a:defRPr>
            </a:pPr>
            <a:r>
              <a:t>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03628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38100" cy="1828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144000" cy="112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200" b="0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真正的善意，常常是无声的。愿意为你做事的人很多；愿意为你做事、还不让你有负担的人，才难得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50C62E2-B52B-AC55-57EB-CE4CF1023010}"/>
              </a:ext>
            </a:extLst>
          </p:cNvPr>
          <p:cNvSpPr txBox="1"/>
          <p:nvPr/>
        </p:nvSpPr>
        <p:spPr>
          <a:xfrm>
            <a:off x="2239431" y="610136"/>
            <a:ext cx="302999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en-US" altLang="zh-CN" sz="40000" dirty="0">
                <a:solidFill>
                  <a:srgbClr val="F0E8D1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6</a:t>
            </a:r>
            <a:endParaRPr kumimoji="1" lang="zh-CN" altLang="en-US" sz="40000" dirty="0">
              <a:solidFill>
                <a:srgbClr val="F0E8D1"/>
              </a:solidFill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872B2BF-8A35-7BDD-0670-F018315FEAF2}"/>
              </a:ext>
            </a:extLst>
          </p:cNvPr>
          <p:cNvSpPr txBox="1"/>
          <p:nvPr/>
        </p:nvSpPr>
        <p:spPr>
          <a:xfrm>
            <a:off x="487679" y="209327"/>
            <a:ext cx="2108375" cy="967832"/>
          </a:xfrm>
          <a:prstGeom prst="rect">
            <a:avLst/>
          </a:prstGeom>
          <a:solidFill>
            <a:srgbClr val="F0E8D0"/>
          </a:solidFill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4400"/>
              </a:lnSpc>
              <a:defRPr sz="9600" b="1" i="0">
                <a:solidFill>
                  <a:srgbClr val="F0E8D0"/>
                </a:solidFill>
                <a:latin typeface="Noto Serif SC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r>
              <a:rPr dirty="0" err="1"/>
              <a:t>一场和解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2891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达西的姨母凯瑟琳夫人深夜闯上门，命令伊丽莎白发誓永远不嫁给达西，理由是：</a:t>
            </a:r>
            <a:r>
              <a:rPr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你家家世配不上他</a:t>
            </a:r>
            <a:r>
              <a:rPr b="1"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spcAft>
                <a:spcPts val="12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伊丽莎白没有退缩。她平静地回敬</a:t>
            </a:r>
            <a:r>
              <a:rPr b="1" dirty="0">
                <a:latin typeface="FangSong" panose="02010609060101010101" pitchFamily="49" charset="-122"/>
                <a:ea typeface="FangSong" panose="02010609060101010101" pitchFamily="49" charset="-122"/>
              </a:rPr>
              <a:t>："</a:t>
            </a:r>
            <a:r>
              <a:rPr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他是个绅士，我是个绅士之女</a:t>
            </a:r>
            <a:r>
              <a:rPr b="1"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论身份，我们平等</a:t>
            </a:r>
            <a:r>
              <a:rPr b="1" dirty="0">
                <a:latin typeface="FangSong" panose="02010609060101010101" pitchFamily="49" charset="-122"/>
                <a:ea typeface="FangSong" panose="02010609060101010101" pitchFamily="49" charset="-122"/>
              </a:rPr>
              <a:t>。"</a:t>
            </a:r>
          </a:p>
          <a:p>
            <a:pPr algn="l">
              <a:lnSpc>
                <a:spcPts val="3200"/>
              </a:lnSpc>
              <a:spcAft>
                <a:spcPts val="1800"/>
              </a:spcAft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b="1" dirty="0" err="1">
                <a:latin typeface="FangSong" panose="02010609060101010101" pitchFamily="49" charset="-122"/>
                <a:ea typeface="FangSong" panose="02010609060101010101" pitchFamily="49" charset="-122"/>
              </a:rPr>
              <a:t>最讽刺的是：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老太太这一闹，反而让达西确信伊丽莎白心里有他。他第二次求婚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这一次，他没有再用身份压她，只是平平静静地站到她面前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3200"/>
              </a:lnSpc>
              <a:defRPr sz="1600" b="0" i="0">
                <a:solidFill>
                  <a:srgbClr val="2D2D44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书里没有王子救公主。这是两个都曾看错彼此的人，学会了诚实地看人、也谦卑地看己之后，才走到了一起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0" y="1645920"/>
            <a:ext cx="30476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defRPr sz="2200" b="0" i="1">
                <a:solidFill>
                  <a:srgbClr val="808080"/>
                </a:solidFill>
                <a:latin typeface="Cormorant Garamond"/>
              </a:defRPr>
            </a:pPr>
            <a:r>
              <a:t>"Till this moment I never knew myself."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48495" cy="62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  <a:defRPr sz="2600" b="0" i="0">
                <a:solidFill>
                  <a:srgbClr val="FFFFFF"/>
                </a:solidFill>
                <a:latin typeface="Noto Serif SC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「</a:t>
            </a: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直到此刻，我才真正了解自己</a:t>
            </a: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0" i="0">
                <a:solidFill>
                  <a:srgbClr val="666666"/>
                </a:solidFill>
                <a:latin typeface="Noto Serif SC"/>
              </a:defRPr>
            </a:pPr>
            <a:r>
              <a:t>— 伊丽莎白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303520"/>
            <a:ext cx="30476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E8D5A8"/>
                </a:solidFill>
                <a:latin typeface="Noto Serif SC"/>
              </a:defRPr>
            </a:pPr>
            <a:r>
              <a:t>角色独白 · 第一人称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0" i="1">
                <a:solidFill>
                  <a:srgbClr val="E8D5A8"/>
                </a:solidFill>
                <a:latin typeface="Cormorant Garamond"/>
              </a:defRPr>
            </a:pPr>
            <a:r>
              <a:t>Elizabeth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32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 i="0">
                <a:solidFill>
                  <a:srgbClr val="808080"/>
                </a:solidFill>
                <a:latin typeface="Noto Serif SC"/>
              </a:defRPr>
            </a:pPr>
            <a:r>
              <a:rPr b="1" dirty="0">
                <a:latin typeface="SimSong" panose="02020300000000000000" pitchFamily="18" charset="-122"/>
                <a:ea typeface="SimSong" panose="02020300000000000000" pitchFamily="18" charset="-122"/>
              </a:rPr>
              <a:t>「</a:t>
            </a:r>
            <a:r>
              <a:rPr b="1" dirty="0" err="1">
                <a:latin typeface="SimSong" panose="02020300000000000000" pitchFamily="18" charset="-122"/>
                <a:ea typeface="SimSong" panose="02020300000000000000" pitchFamily="18" charset="-122"/>
              </a:rPr>
              <a:t>有些道理，达西教会了我。而我，花了很久才听懂</a:t>
            </a:r>
            <a:r>
              <a:rPr b="1" dirty="0">
                <a:latin typeface="SimSong" panose="02020300000000000000" pitchFamily="18" charset="-122"/>
                <a:ea typeface="SimSong" panose="02020300000000000000" pitchFamily="18" charset="-122"/>
              </a:rPr>
              <a:t>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2540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343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壹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舞会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我差点用一场舞会，判了他死刑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第一印象是用来记住的，不是用来宣判的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贰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那个人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会说话的人，未必可信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会说话，跟可靠，从来不是一回事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叁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守住自己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守住自己，再谈去爱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我可以爱，但我不能为此丢掉自己的分量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看清自己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直到我看错了他，我才看清自己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成长最难的，不是学新东西，而是承认自己看错了、做错了、还改得动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E8D5A8"/>
                </a:solidFill>
                <a:latin typeface="Noto Serif SC"/>
              </a:defRPr>
            </a:pPr>
            <a:r>
              <a:t>角色独白 · 第一人称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0" i="1">
                <a:solidFill>
                  <a:srgbClr val="E8D5A8"/>
                </a:solidFill>
                <a:latin typeface="Cormorant Garamond"/>
              </a:defRPr>
            </a:pPr>
            <a:r>
              <a:t>Darcy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32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 i="0">
                <a:solidFill>
                  <a:srgbClr val="808080"/>
                </a:solidFill>
                <a:latin typeface="Noto Serif SC"/>
              </a:defRPr>
            </a:pPr>
            <a:r>
              <a:rPr b="1" dirty="0">
                <a:latin typeface="SimSong" panose="02020300000000000000" pitchFamily="18" charset="-122"/>
                <a:ea typeface="SimSong" panose="02020300000000000000" pitchFamily="18" charset="-122"/>
              </a:rPr>
              <a:t>「</a:t>
            </a:r>
            <a:r>
              <a:rPr b="1" dirty="0" err="1">
                <a:latin typeface="SimSong" panose="02020300000000000000" pitchFamily="18" charset="-122"/>
                <a:ea typeface="SimSong" panose="02020300000000000000" pitchFamily="18" charset="-122"/>
              </a:rPr>
              <a:t>从前我总以为，人要活得让人敬畏。后来才懂，要活得让人安心</a:t>
            </a:r>
            <a:r>
              <a:rPr b="1" dirty="0">
                <a:latin typeface="SimSong" panose="02020300000000000000" pitchFamily="18" charset="-122"/>
                <a:ea typeface="SimSong" panose="02020300000000000000" pitchFamily="18" charset="-122"/>
              </a:rPr>
              <a:t>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2540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343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壹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开口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我明明爱她，却说得像施舍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把对方看低，是爱里最昂贵的错误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贰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那封信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真诚不是掏心，是放下端着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让人信服的，从来不是气势，是真相本身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叁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做事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爱，是让她不必都知道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在她最狼狈的时候，替她守住体面，然后平静地退开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  <a:p>
            <a:pPr algn="l">
              <a:lnSpc>
                <a:spcPts val="2400"/>
              </a:lnSpc>
              <a:spcBef>
                <a:spcPts val="800"/>
              </a:spcBef>
              <a:spcAft>
                <a:spcPts val="200"/>
              </a:spcAft>
              <a:defRPr sz="15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肆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·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平等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 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这一次，我把自己放到和她一样的高度</a:t>
            </a:r>
            <a:endParaRPr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l">
              <a:lnSpc>
                <a:spcPts val="2200"/>
              </a:lnSpc>
              <a:spcAft>
                <a:spcPts val="600"/>
              </a:spcAft>
              <a:defRPr sz="14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不再需要向谁证明自己更强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pPr algn="ctr"/>
            <a:r>
              <a:rPr dirty="0" err="1"/>
              <a:t>照见自己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0" y="1554480"/>
            <a:ext cx="21332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007" y="1945640"/>
            <a:ext cx="8869680" cy="477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1800" b="0" i="0">
                <a:solidFill>
                  <a:srgbClr val="1A1A2E"/>
                </a:solidFill>
                <a:latin typeface="Noto Serif SC"/>
              </a:defRPr>
            </a:pPr>
            <a:r>
              <a:rPr b="1" dirty="0">
                <a:latin typeface="SimSong" panose="02020300000000000000" pitchFamily="18" charset="-122"/>
                <a:ea typeface="SimSong" panose="02020300000000000000" pitchFamily="18" charset="-122"/>
              </a:rPr>
              <a:t>读完这本书，我最大的感受是：奥斯汀写的不是19世纪的英国，她写的是此刻的我们。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41245"/>
            <a:ext cx="548640" cy="48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0" i="1">
                <a:solidFill>
                  <a:srgbClr val="E0D0B8"/>
                </a:solidFill>
                <a:latin typeface="Cormorant Garamond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213123"/>
            <a:ext cx="1828800" cy="336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00"/>
              </a:lnSpc>
              <a:defRPr sz="15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关于社交</a:t>
            </a:r>
            <a:endParaRPr dirty="0">
              <a:latin typeface="SimSong" panose="02020300000000000000" pitchFamily="18" charset="-122"/>
              <a:ea typeface="SimSong" panose="02020300000000000000" pitchFamily="18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3108960"/>
            <a:ext cx="6858000" cy="5445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  <a:defRPr sz="1200" b="0" i="0">
                <a:solidFill>
                  <a:srgbClr val="6B7B8D"/>
                </a:solidFill>
                <a:latin typeface="Noto Serif SC"/>
              </a:defRPr>
            </a:pP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达西花了整本书的时间去修复第一印象。韦翰靠第一印象骗了所有人。我对一个人的第一印象，到底有多少是"事实"，有多少是"我的心情"？别急，让时间说话。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27045"/>
            <a:ext cx="548640" cy="48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0" i="1">
                <a:solidFill>
                  <a:srgbClr val="E0D0B8"/>
                </a:solidFill>
                <a:latin typeface="Cormorant Garamond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898923"/>
            <a:ext cx="1828800" cy="336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00"/>
              </a:lnSpc>
              <a:defRPr sz="15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关于感情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794760"/>
            <a:ext cx="6858000" cy="5445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  <a:defRPr sz="12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好的感情不是找到一个完美的人，而是因为那个人，你想变成一个更好的人。达西因为伊丽莎白学会了表达，伊丽莎白因为达西学会了审慎。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12845"/>
            <a:ext cx="548640" cy="48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0" i="1">
                <a:solidFill>
                  <a:srgbClr val="E0D0B8"/>
                </a:solidFill>
                <a:latin typeface="Cormorant Garamond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84723"/>
            <a:ext cx="1828800" cy="336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00"/>
              </a:lnSpc>
              <a:defRPr sz="15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关于工作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480560"/>
            <a:ext cx="6858000" cy="5445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  <a:defRPr sz="1200" b="0" i="0">
                <a:solidFill>
                  <a:srgbClr val="6B7B8D"/>
                </a:solidFill>
                <a:latin typeface="Noto Serif SC"/>
              </a:defRPr>
            </a:pP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"做了"和"被知道做了"之间，有一条很重要的沟。你以为的"</a:t>
            </a: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低调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"，在别人眼里可能就是"</a:t>
            </a: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冷漠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"。</a:t>
            </a: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不是说要炫耀，而是要学会沟通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98645"/>
            <a:ext cx="548640" cy="48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0" i="1">
                <a:solidFill>
                  <a:srgbClr val="E0D0B8"/>
                </a:solidFill>
                <a:latin typeface="Cormorant Garamond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70523"/>
            <a:ext cx="1828800" cy="336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00"/>
              </a:lnSpc>
              <a:defRPr sz="15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关于家庭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166360"/>
            <a:ext cx="6858000" cy="5445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  <a:defRPr sz="12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家庭给孩子最好的东西，不是物质条件，而是让他们看到两个人怎么好好相处。莉迪亚的放纵、简的天真、伊丽莎白的过度独立——都能在父母身上找到影子。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84445"/>
            <a:ext cx="548640" cy="48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200" b="0" i="1">
                <a:solidFill>
                  <a:srgbClr val="E0D0B8"/>
                </a:solidFill>
                <a:latin typeface="Cormorant Garamond"/>
              </a:defRPr>
            </a:pP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956323"/>
            <a:ext cx="1828800" cy="3362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2200"/>
              </a:lnSpc>
              <a:defRPr sz="15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关于做内容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852160"/>
            <a:ext cx="6858000" cy="5445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ts val="1900"/>
              </a:lnSpc>
              <a:defRPr sz="12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数据说服大脑，故事打动人心。不管是做汇报、做产品还是做个人品牌，"故事感"永远比"信息量"更有力量。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8534095" cy="495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defRPr sz="1800" b="0" i="0">
                <a:solidFill>
                  <a:srgbClr val="B3B3B3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说到底，这本书教会我最重要的一件事是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——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48495" cy="152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sz="2800" dirty="0" err="1">
                <a:solidFill>
                  <a:srgbClr val="FFFFFF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成长的起点不是</a:t>
            </a:r>
            <a:r>
              <a:rPr sz="2800" b="1" dirty="0" err="1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"我要变得更好</a:t>
            </a:r>
            <a:r>
              <a:rPr sz="2800" b="1" dirty="0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</a:t>
            </a:r>
            <a:r>
              <a:rPr sz="2800" dirty="0">
                <a:solidFill>
                  <a:srgbClr val="FFFFFF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，</a:t>
            </a:r>
          </a:p>
          <a:p>
            <a:pPr algn="ctr">
              <a:lnSpc>
                <a:spcPts val="6000"/>
              </a:lnSpc>
            </a:pPr>
            <a:r>
              <a:rPr sz="2800" dirty="0" err="1">
                <a:solidFill>
                  <a:srgbClr val="FFFFFF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而是</a:t>
            </a:r>
            <a:r>
              <a:rPr sz="2800" b="1" dirty="0" err="1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"我承认现在不够好</a:t>
            </a:r>
            <a:r>
              <a:rPr sz="2800" b="1" dirty="0">
                <a:solidFill>
                  <a:srgbClr val="C9A96E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"</a:t>
            </a:r>
            <a:r>
              <a:rPr sz="2800" dirty="0">
                <a:solidFill>
                  <a:srgbClr val="FFFFFF"/>
                </a:solidFill>
                <a:latin typeface="FZDaHei-B02" panose="02000000000000000000" pitchFamily="2" charset="-122"/>
                <a:ea typeface="FZDaHei-B02" panose="02000000000000000000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5400"/>
              </a:lnSpc>
              <a:defRPr sz="3600" b="1" i="0">
                <a:solidFill>
                  <a:srgbClr val="1A1A2E"/>
                </a:solidFill>
                <a:latin typeface="FZDaHei-B02" panose="02000000000000000000" pitchFamily="2" charset="-122"/>
                <a:ea typeface="FZDaHei-B02" panose="02000000000000000000" pitchFamily="2" charset="-122"/>
              </a:defRPr>
            </a:lvl1pPr>
          </a:lstStyle>
          <a:p>
            <a:pPr algn="ctr"/>
            <a:r>
              <a:rPr dirty="0" err="1"/>
              <a:t>几个想和</a:t>
            </a:r>
            <a:r>
              <a:rPr lang="zh-CN" altLang="en-US" dirty="0"/>
              <a:t>大家</a:t>
            </a:r>
            <a:r>
              <a:rPr dirty="0" err="1"/>
              <a:t>聊的问题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0" y="1554480"/>
            <a:ext cx="2133295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7280" y="215392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C9A96E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关于偏见</a:t>
            </a:r>
            <a:endParaRPr dirty="0">
              <a:latin typeface="FZDaHei-B02" panose="02000000000000000000" pitchFamily="2" charset="-122"/>
              <a:ea typeface="FZDaHei-B02" panose="02000000000000000000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387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你有没有一次"伊丽莎白时刻</a:t>
            </a: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"？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31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6B7B8D"/>
                </a:solidFill>
                <a:latin typeface="Noto Serif SC"/>
              </a:defRPr>
            </a:pPr>
            <a:r>
              <a:rPr dirty="0" err="1">
                <a:latin typeface="SimSong" panose="02020300000000000000" pitchFamily="18" charset="-122"/>
                <a:ea typeface="SimSong" panose="02020300000000000000" pitchFamily="18" charset="-122"/>
              </a:rPr>
              <a:t>非常确信自己看对了人，结果完全搞错了。后来发生了什么</a:t>
            </a:r>
            <a:r>
              <a:rPr dirty="0">
                <a:latin typeface="SimSong" panose="02020300000000000000" pitchFamily="18" charset="-122"/>
                <a:ea typeface="SimSong" panose="02020300000000000000" pitchFamily="18" charset="-122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108960"/>
            <a:ext cx="9144000" cy="6350"/>
          </a:xfrm>
          <a:prstGeom prst="rect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329692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C9A96E"/>
                </a:solidFill>
                <a:latin typeface="Noto Serif SC"/>
              </a:defRPr>
            </a:pPr>
            <a:r>
              <a:rPr>
                <a:latin typeface="FZDaHei-B02" panose="02000000000000000000" pitchFamily="2" charset="-122"/>
                <a:ea typeface="FZDaHei-B02" panose="02000000000000000000" pitchFamily="2" charset="-122"/>
              </a:rPr>
              <a:t>关于傲慢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9144000" cy="387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FZDaHei-B02" panose="02000000000000000000" pitchFamily="2" charset="-122"/>
                <a:ea typeface="FZDaHei-B02" panose="02000000000000000000" pitchFamily="2" charset="-122"/>
              </a:rPr>
              <a:t>你有没有被误解为"高冷"的经历？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9144000" cy="31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其实不是看不起对方，只是不知道怎么表达善意。你是怎么处理的？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251960"/>
            <a:ext cx="9144000" cy="6350"/>
          </a:xfrm>
          <a:prstGeom prst="rect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7280" y="443992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C9A96E"/>
                </a:solidFill>
                <a:latin typeface="Noto Serif SC"/>
              </a:defRPr>
            </a:pPr>
            <a:r>
              <a:rPr>
                <a:latin typeface="FZDaHei-B02" panose="02000000000000000000" pitchFamily="2" charset="-122"/>
                <a:ea typeface="FZDaHei-B02" panose="02000000000000000000" pitchFamily="2" charset="-122"/>
              </a:rPr>
              <a:t>关于选择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9144000" cy="387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1" i="0">
                <a:solidFill>
                  <a:srgbClr val="1A1A2E"/>
                </a:solidFill>
                <a:latin typeface="Noto Serif SC"/>
              </a:defRPr>
            </a:pPr>
            <a:r>
              <a:rPr dirty="0" err="1">
                <a:latin typeface="FZDaHei-B02" panose="02000000000000000000" pitchFamily="2" charset="-122"/>
                <a:ea typeface="FZDaHei-B02" panose="02000000000000000000" pitchFamily="2" charset="-122"/>
              </a:rPr>
              <a:t>夏洛蒂选择了安稳，莉迪亚选择了激情</a:t>
            </a:r>
            <a:r>
              <a:rPr dirty="0">
                <a:latin typeface="FZDaHei-B02" panose="02000000000000000000" pitchFamily="2" charset="-122"/>
                <a:ea typeface="FZDaHei-B02" panose="02000000000000000000" pitchFamily="2" charset="-122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9144000" cy="31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如果是你，你会怎么选？有没有第三条路？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394960"/>
            <a:ext cx="9144000" cy="6350"/>
          </a:xfrm>
          <a:prstGeom prst="rect">
            <a:avLst/>
          </a:prstGeom>
          <a:solidFill>
            <a:srgbClr val="E0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7280" y="5582920"/>
            <a:ext cx="76200" cy="7620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 i="0">
                <a:solidFill>
                  <a:srgbClr val="C9A96E"/>
                </a:solidFill>
                <a:latin typeface="Noto Serif SC"/>
              </a:defRPr>
            </a:pPr>
            <a:r>
              <a:rPr>
                <a:latin typeface="FZDaHei-B02" panose="02000000000000000000" pitchFamily="2" charset="-122"/>
                <a:ea typeface="FZDaHei-B02" panose="02000000000000000000" pitchFamily="2" charset="-122"/>
              </a:rPr>
              <a:t>关于当下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15000"/>
            <a:ext cx="9144000" cy="387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700" b="1" i="0">
                <a:solidFill>
                  <a:srgbClr val="1A1A2E"/>
                </a:solidFill>
                <a:latin typeface="Noto Serif SC"/>
              </a:defRPr>
            </a:pPr>
            <a:r>
              <a:rPr>
                <a:latin typeface="FZDaHei-B02" panose="02000000000000000000" pitchFamily="2" charset="-122"/>
                <a:ea typeface="FZDaHei-B02" panose="02000000000000000000" pitchFamily="2" charset="-122"/>
              </a:rPr>
              <a:t>算法推荐是不是在加剧我们的"偏见"？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080760"/>
            <a:ext cx="9144000" cy="312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 i="0">
                <a:solidFill>
                  <a:srgbClr val="6B7B8D"/>
                </a:solidFill>
                <a:latin typeface="Noto Serif SC"/>
              </a:defRPr>
            </a:pPr>
            <a:r>
              <a:rPr>
                <a:latin typeface="SimSong" panose="02020300000000000000" pitchFamily="18" charset="-122"/>
                <a:ea typeface="SimSong" panose="02020300000000000000" pitchFamily="18" charset="-122"/>
              </a:rPr>
              <a:t>我们每天看到的信息都在印证已有的观点——怎么打破这个循环？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3460"/>
            </a:gs>
            <a:gs pos="100000">
              <a:srgbClr val="1A1A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371600"/>
            <a:ext cx="8534095" cy="325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600"/>
              </a:lnSpc>
            </a:pPr>
            <a:r>
              <a:rPr sz="2600" b="1" dirty="0" err="1">
                <a:solidFill>
                  <a:srgbClr val="E8D5A8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傲慢</a:t>
            </a:r>
            <a:r>
              <a:rPr sz="2600" b="1" dirty="0" err="1">
                <a:solidFill>
                  <a:srgbClr val="B3B3B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让别人无法来爱我</a:t>
            </a:r>
            <a:r>
              <a:rPr sz="2600" b="1" dirty="0">
                <a:solidFill>
                  <a:srgbClr val="B3B3B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，</a:t>
            </a:r>
          </a:p>
          <a:p>
            <a:pPr algn="ctr">
              <a:lnSpc>
                <a:spcPts val="5600"/>
              </a:lnSpc>
            </a:pPr>
            <a:r>
              <a:rPr sz="2600" b="1" dirty="0" err="1">
                <a:solidFill>
                  <a:srgbClr val="E8D5A8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偏见</a:t>
            </a:r>
            <a:r>
              <a:rPr sz="2600" b="1" dirty="0" err="1">
                <a:solidFill>
                  <a:srgbClr val="B3B3B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让我无法去爱别人</a:t>
            </a:r>
            <a:r>
              <a:rPr sz="2600" b="1" dirty="0">
                <a:solidFill>
                  <a:srgbClr val="B3B3B3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  <a:p>
            <a:pPr algn="ctr">
              <a:lnSpc>
                <a:spcPts val="5600"/>
              </a:lnSpc>
              <a:spcBef>
                <a:spcPts val="3000"/>
              </a:spcBef>
            </a:pPr>
            <a:r>
              <a:rPr sz="2600" b="1" dirty="0" err="1">
                <a:solidFill>
                  <a:srgbClr val="FFFFFF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放下傲慢，我们才值得被爱</a:t>
            </a:r>
            <a:r>
              <a:rPr sz="2600" b="1" dirty="0">
                <a:solidFill>
                  <a:srgbClr val="FFFFFF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  <a:p>
            <a:pPr algn="ctr">
              <a:lnSpc>
                <a:spcPts val="5600"/>
              </a:lnSpc>
            </a:pPr>
            <a:r>
              <a:rPr sz="2600" b="1" dirty="0" err="1">
                <a:solidFill>
                  <a:srgbClr val="FFFFFF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放下偏见，我们才有能力去爱</a:t>
            </a:r>
            <a:r>
              <a:rPr sz="2600" b="1" dirty="0">
                <a:solidFill>
                  <a:srgbClr val="FFFFFF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303520"/>
            <a:ext cx="8534095" cy="30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300" b="0" i="0">
                <a:solidFill>
                  <a:srgbClr val="666666"/>
                </a:solidFill>
                <a:latin typeface="Noto Serif SC"/>
              </a:defRPr>
            </a:pP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—— </a:t>
            </a:r>
            <a:r>
              <a:rPr dirty="0" err="1">
                <a:latin typeface="FangSong" panose="02010609060101010101" pitchFamily="49" charset="-122"/>
                <a:ea typeface="FangSong" panose="02010609060101010101" pitchFamily="49" charset="-122"/>
              </a:rPr>
              <a:t>简·奥斯汀《傲慢与偏见</a:t>
            </a:r>
            <a:r>
              <a:rPr dirty="0">
                <a:latin typeface="FangSong" panose="02010609060101010101" pitchFamily="49" charset="-122"/>
                <a:ea typeface="FangSong" panose="02010609060101010101" pitchFamily="49" charset="-122"/>
              </a:rPr>
              <a:t>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889</Words>
  <Application>Microsoft Macintosh PowerPoint</Application>
  <PresentationFormat>宽屏</PresentationFormat>
  <Paragraphs>152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FangSong</vt:lpstr>
      <vt:lpstr>FZDaHei-B02</vt:lpstr>
      <vt:lpstr>SimSong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2026-09-01T14:00:41Z</dcterms:modified>
  <cp:category/>
</cp:coreProperties>
</file>